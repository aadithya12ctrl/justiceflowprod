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D4782A"/>
            </a:solidFill>
          </c:spPr>
          <c:dLbls>
            <c:numFmt formatCode="₹#.0&quot;Cr&quot;" sourceLinked="0"/>
            <c:txPr>
              <a:bodyPr/>
              <a:lstStyle/>
              <a:p>
                <a:pPr>
                  <a:defRPr sz="1400" b="1">
                    <a:solidFill>
                      <a:srgbClr val="F5DEB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8.5</c:v>
                </c:pt>
                <c:pt idx="2">
                  <c:v>25.0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D4782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1">
                <a:solidFill>
                  <a:srgbClr val="F5DEB3"/>
                </a:solidFill>
                <a:latin typeface="Georgia"/>
              </a:defRPr>
            </a:pPr>
            <a:r>
              <a:t>⚖️ JusticeFlow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4A261"/>
                </a:solidFill>
                <a:latin typeface="Calibri"/>
              </a:defRPr>
            </a:pPr>
            <a:r>
              <a:t>AI-Powered Dispute Resolution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9E6B47"/>
                </a:solidFill>
                <a:latin typeface="Calibri"/>
              </a:defRPr>
            </a:pPr>
            <a:r>
              <a:t>Reducing India's 4.7 Crore case backlog through intelligent legal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383280"/>
            <a:ext cx="1463040" cy="45720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4564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Groq LLaMA 3.3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1">
                <a:solidFill>
                  <a:srgbClr val="F5DEB3"/>
                </a:solidFill>
                <a:latin typeface="Georgia"/>
              </a:defRPr>
            </a:pPr>
            <a:r>
              <a:t>The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029200" cy="33832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🇮🇳 India's Judicial Backlog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4.7 Crore+ cases pending across Indian courts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3–5 years average civil dispute resolution time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21 judges per million citizens (lowest in democracies)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70% of cases are settleable before trial (NALSA)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Judges spend 40%+ time reviewing filterable cases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Zero institutional memory across courthouses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914400"/>
            <a:ext cx="3017520" cy="33832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4A261"/>
                </a:solidFill>
                <a:latin typeface="Georgia"/>
              </a:defRPr>
            </a:pPr>
            <a:r>
              <a:t>4.7Cr+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5A2B"/>
                </a:solidFill>
                <a:latin typeface="Calibri"/>
              </a:defRPr>
            </a:pPr>
            <a:r>
              <a:t>Pending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468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4A261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5A2B"/>
                </a:solidFill>
                <a:latin typeface="Calibri"/>
              </a:defRPr>
            </a:pPr>
            <a:r>
              <a:t>Judges per Million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9E6B47"/>
                </a:solidFill>
                <a:latin typeface="Calibri"/>
              </a:defRPr>
            </a:pPr>
            <a:r>
              <a:t>Source: National Judicial Data Grid (NJDG), 2024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1">
                <a:solidFill>
                  <a:srgbClr val="F5DEB3"/>
                </a:solidFill>
                <a:latin typeface="Georgia"/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🧬  Case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6D fingerprint + precedent twin matching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1012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🔍  Auto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5-step hybrid rule + LLM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77724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850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📊  DLS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Dismissal probability with per-reason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🤝  AI Negotiation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Dual adversarial agents + live judge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📈  Risk Indicator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Linguistic risk scoring with cooling-off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6596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0391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🕸️  Conflict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Entity network detects repeat offenders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154680"/>
            <a:ext cx="27432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2278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⚖️  Judge Cockpit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3611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90-second review with downloadable PDF brief</a:t>
            </a:r>
          </a:p>
        </p:txBody>
      </p:sp>
      <p:sp>
        <p:nvSpPr>
          <p:cNvPr id="24" name="Oval 23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1">
                <a:solidFill>
                  <a:srgbClr val="F5DEB3"/>
                </a:solidFill>
                <a:latin typeface="Georgia"/>
              </a:defRPr>
            </a:pPr>
            <a:r>
              <a:t>How We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09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9E6B47"/>
                </a:solidFill>
                <a:latin typeface="Calibri"/>
              </a:defRPr>
            </a:pPr>
            <a:r>
              <a:t>100 Marks  •  10 Judging Criteria  •  10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548640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96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4.7Cr backlog → faster justice for underserved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548640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4608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Legal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8961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Multi-agent negotiation + live judge intervention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389888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Technical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Working prototype, ₹0 infra, demo-ready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389888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Practicability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Indian statutes, ₹ amounts, Hindi toggle, tribunals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231136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276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78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₹3K/seat B2G SaaS, 73% margin, Mo 10 break-even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231136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276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5786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5 districts → 50 → 200, data flywheel moat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072384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118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4198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District judges (30-40 cases/day) + legal aid lawyers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072384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118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Problem Solving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341985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45 min → 90 sec review. 3-5 yrs → days settlement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913632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959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Creativity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2611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Judge types mid-negotiation, AI agents react 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3913632"/>
            <a:ext cx="4251960" cy="7315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959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Q&amp;A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2611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3E1C00"/>
                </a:solidFill>
                <a:latin typeface="Calibri"/>
              </a:defRPr>
            </a:pPr>
            <a:r>
              <a:t>Precedent-backed claims, CPC Rule 11, RERA §18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Case DNA Fingerprinting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572000" cy="29260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6 DNA Dimensions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📂  Category — RERA, Consumer, Labour, Motor Accident…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🏛️  Jurisdiction — Court/tribunal clarity score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💰  Claim Bucket — &lt;₹50K | ₹50K–5L | ₹5L–50L | &gt;₹50L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📋  Evidence Strength — Documentation quality (0–1)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💭  Emotional Intensity — Language heat score (0–1)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🌟  Novelty — How uncommon the legal question is (0–1)</a:t>
            </a:r>
          </a:p>
        </p:txBody>
      </p:sp>
      <p:sp>
        <p:nvSpPr>
          <p:cNvPr id="5" name="Oval 4"/>
          <p:cNvSpPr/>
          <p:nvPr/>
        </p:nvSpPr>
        <p:spPr>
          <a:xfrm>
            <a:off x="6858000" y="1463040"/>
            <a:ext cx="777240" cy="777240"/>
          </a:xfrm>
          <a:prstGeom prst="ellipse">
            <a:avLst/>
          </a:prstGeom>
          <a:solidFill>
            <a:srgbClr val="D4782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67728" y="16642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Cat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1920240"/>
            <a:ext cx="777240" cy="777240"/>
          </a:xfrm>
          <a:prstGeom prst="ellipse">
            <a:avLst/>
          </a:prstGeom>
          <a:solidFill>
            <a:srgbClr val="F4A26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2121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Jur</a:t>
            </a:r>
          </a:p>
        </p:txBody>
      </p:sp>
      <p:sp>
        <p:nvSpPr>
          <p:cNvPr id="9" name="Oval 8"/>
          <p:cNvSpPr/>
          <p:nvPr/>
        </p:nvSpPr>
        <p:spPr>
          <a:xfrm>
            <a:off x="7406640" y="2743200"/>
            <a:ext cx="777240" cy="777240"/>
          </a:xfrm>
          <a:prstGeom prst="ellipse">
            <a:avLst/>
          </a:prstGeom>
          <a:solidFill>
            <a:srgbClr val="A0522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7" y="2944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Claim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2743200"/>
            <a:ext cx="777240" cy="777240"/>
          </a:xfrm>
          <a:prstGeom prst="ellipse">
            <a:avLst/>
          </a:prstGeom>
          <a:solidFill>
            <a:srgbClr val="8B5A2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294436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Evid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920240"/>
            <a:ext cx="777240" cy="777240"/>
          </a:xfrm>
          <a:prstGeom prst="ellipse">
            <a:avLst/>
          </a:prstGeom>
          <a:solidFill>
            <a:srgbClr val="6B8F71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121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Emot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194560"/>
            <a:ext cx="777240" cy="777240"/>
          </a:xfrm>
          <a:prstGeom prst="ellipse">
            <a:avLst/>
          </a:prstGeom>
          <a:solidFill>
            <a:srgbClr val="5C403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395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5DEB3"/>
                </a:solidFill>
                <a:latin typeface="Calibri"/>
              </a:defRPr>
            </a:pPr>
            <a:r>
              <a:t>Nov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023360"/>
            <a:ext cx="8595360" cy="502920"/>
          </a:xfrm>
          <a:prstGeom prst="round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3E1C00"/>
                </a:solidFill>
                <a:latin typeface="Calibri"/>
              </a:defRPr>
            </a:pPr>
            <a:r>
              <a:t>Cosine similarity matching against 12 real SC/HC precedents  •  Twin identification with % match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Dismissal Likelihood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Jurisdiction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Wrong court</a:t>
            </a:r>
            <a:br/>
            <a:r>
              <a:t>or forum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7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599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1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Filing deadline</a:t>
            </a:r>
            <a:br/>
            <a:r>
              <a:t>expired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7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Documentation</a:t>
            </a:r>
            <a:br/>
            <a:r>
              <a:t>gap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39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1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Frivolous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3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Lacks legal</a:t>
            </a:r>
            <a:br/>
            <a:r>
              <a:t>merit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1005840"/>
            <a:ext cx="1554480" cy="19202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097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782A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4782A"/>
                </a:solidFill>
                <a:latin typeface="Calibri"/>
              </a:defRPr>
            </a:pPr>
            <a:r>
              <a:t>Procedural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19659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Process or</a:t>
            </a:r>
            <a:br/>
            <a:r>
              <a:t>format 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8229600" cy="777240"/>
          </a:xfrm>
          <a:prstGeom prst="round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735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B03A2E"/>
                </a:solidFill>
                <a:latin typeface="Calibri"/>
              </a:defRPr>
            </a:pPr>
            <a:r>
              <a:t>⚠️ Cases &gt;75% DLS → mandatory judge override with 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8B5A2B"/>
                </a:solidFill>
                <a:latin typeface="Calibri"/>
              </a:defRPr>
            </a:pPr>
            <a:r>
              <a:t>Based on CPC Order VII Rule 11 grounds for dismissal under Indian law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AI Negotiation Sandbox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3840480" cy="21031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B8F71"/>
                </a:solidFill>
                <a:latin typeface="Calibri"/>
              </a:defRPr>
            </a:pPr>
            <a:r>
              <a:t>⚖️ Plaintiff Advocate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Argues maximum recovery for plaintiff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Cites RERA §18, CPA 2019, ICA §73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Starts strong, then strategically concedes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Tracks fair settlement threshold (15%)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914400"/>
            <a:ext cx="45720" cy="210312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18288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4A261"/>
                </a:solidFill>
                <a:latin typeface="Georgia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914400"/>
            <a:ext cx="3840480" cy="21031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005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0522D"/>
                </a:solidFill>
                <a:latin typeface="Calibri"/>
              </a:defRPr>
            </a:pPr>
            <a:r>
              <a:t>🛡️ Defendant Advocate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Minimizes liability while staying reasonable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Challenges evidence strength &amp; jurisdiction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Proposes counter-settlements with precedent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Accepts when offer reaches fair range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822960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4782A"/>
                </a:solidFill>
                <a:latin typeface="Calibri"/>
              </a:defRPr>
            </a:pPr>
            <a:r>
              <a:t>👨‍⚖️  Human Judge Presides — Live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E1C00"/>
                </a:solidFill>
                <a:latin typeface="Calibri"/>
              </a:defRPr>
            </a:pPr>
            <a:r>
              <a:t>Judge types directions mid-round  •  Force settlement or escalate  •  Downloadable settlement agreement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Litigation Risk Indicator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943600" cy="457200"/>
          </a:xfrm>
          <a:prstGeom prst="roundRect">
            <a:avLst/>
          </a:prstGeom>
          <a:solidFill>
            <a:srgbClr val="6B8F71">
              <a:alpha val="40000"/>
            </a:srgbClr>
          </a:solidFill>
          <a:ln w="6350"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0–20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05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Calm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Factual, measured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943600" cy="457200"/>
          </a:xfrm>
          <a:prstGeom prst="roundRect">
            <a:avLst/>
          </a:prstGeom>
          <a:solidFill>
            <a:srgbClr val="E8D4A0">
              <a:alpha val="40000"/>
            </a:srgbClr>
          </a:solidFill>
          <a:ln w="6350">
            <a:solidFill>
              <a:srgbClr val="E8D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20–40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Mild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Some emotional undertones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5943600" cy="457200"/>
          </a:xfrm>
          <a:prstGeom prst="roundRect">
            <a:avLst/>
          </a:prstGeom>
          <a:solidFill>
            <a:srgbClr val="F4A261">
              <a:alpha val="40000"/>
            </a:srgbClr>
          </a:solidFill>
          <a:ln w="63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40–60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E1C00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031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E1C00"/>
                </a:solidFill>
                <a:latin typeface="Calibri"/>
              </a:defRPr>
            </a:pPr>
            <a:r>
              <a:t>Frustration evident in filing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39"/>
            <a:ext cx="5943600" cy="457200"/>
          </a:xfrm>
          <a:prstGeom prst="roundRect">
            <a:avLst/>
          </a:prstGeom>
          <a:solidFill>
            <a:srgbClr val="D4782A">
              <a:alpha val="40000"/>
            </a:srgbClr>
          </a:solidFill>
          <a:ln w="635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517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60–80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51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651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Hostile language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5943600" cy="457200"/>
          </a:xfrm>
          <a:prstGeom prst="roundRect">
            <a:avLst/>
          </a:prstGeom>
          <a:solidFill>
            <a:srgbClr val="B03A2E">
              <a:alpha val="40000"/>
            </a:srgbClr>
          </a:solidFill>
          <a:ln w="6350">
            <a:solidFill>
              <a:srgbClr val="B0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80–100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Threats or extreme distress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960120"/>
            <a:ext cx="2103120" cy="2834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0515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D4782A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4782A"/>
                </a:solidFill>
                <a:latin typeface="Calibri"/>
              </a:defRPr>
            </a:pPr>
            <a:r>
              <a:t>Cooling-off trigger</a:t>
            </a:r>
            <a:br/>
            <a:r>
              <a:t>at score 70+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E1C00"/>
                </a:solidFill>
                <a:latin typeface="Calibri"/>
              </a:defRPr>
            </a:pPr>
            <a:r>
              <a:t>3× failure rate when emotional intensity exceeds threshold.</a:t>
            </a:r>
            <a:br/>
            <a:r>
              <a:t>Auto-routes to Lok Adalat.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Who Is This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👨‍⚖️ Judges &amp; Magistrates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90-second review via Judge Cockpit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AI-generated statute citations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One-click downloadable PDF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77724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0" y="86868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👔 Legal Representatives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Case DNA matching for precedent research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Negotiation prep with AI sandbox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DLS risk assessment for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9748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🏛️ Court Administrators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Conflict graph for case distribution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Auto-filter reduces trivial filings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Analytics dashboard for court KPIs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97480"/>
            <a:ext cx="4114800" cy="169164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788920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👥 Litigants &amp; Public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Hindi language support (हिंदी)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Faster pre-trial settlement via AI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Transparent, auditable AI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Architecture &amp;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3657600" cy="45720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Groq Cloud — LLaMA 3.3 70B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LangChain LCEL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Streamlit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3657600" cy="4572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Python 3.12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3657600" cy="457200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SQLite + NetworkX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3657600" cy="457200"/>
          </a:xfrm>
          <a:prstGeom prst="rect">
            <a:avLst/>
          </a:prstGeom>
          <a:solidFill>
            <a:srgbClr val="9E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DEB3"/>
                </a:solidFill>
                <a:latin typeface="Calibri"/>
              </a:defRPr>
            </a:pPr>
            <a:r>
              <a:t>Plotly Visualizations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822960"/>
            <a:ext cx="4389120" cy="27432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91440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🔄 AI Pipeline Flow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Case Filing → DNA Vector Computed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DLS Analysis → Risk Scores Generated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Auto-Filter → 5 Rule + LLM Checks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AI Negotiation → Settlement Attempted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Judge Cockpit → 90-Second Review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Conflict Graph → Pattern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4389120" cy="548640"/>
          </a:xfrm>
          <a:prstGeom prst="roundRect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6B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2219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 i="0">
                <a:solidFill>
                  <a:srgbClr val="6B8F71"/>
                </a:solidFill>
                <a:latin typeface="Calibri"/>
              </a:defRPr>
            </a:pPr>
            <a:r>
              <a:t>💰 Infrastructure Cost: ₹0 — Free-tier APIs, no GPU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🏛️ Court License (B2G)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₹3,000/judge/month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₹5,000/court admin/month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₹2,00,000 one-time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A261"/>
                </a:solidFill>
                <a:latin typeface="Calibri"/>
              </a:defRPr>
            </a:pPr>
            <a:r>
              <a:t>👔 Lawyer SaaS (B2B)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₹999/mo Solo practitioner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₹7,999/mo Law firm (10 seats)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Custom enterprise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29000"/>
            <a:ext cx="5943600" cy="1188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0522D"/>
                </a:solidFill>
                <a:latin typeface="Calibri"/>
              </a:defRPr>
            </a:pPr>
            <a:r>
              <a:t>📊 Data &amp; Insights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₹50,000/month analytics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Policy reports &amp; trend data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Anonymized court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777240"/>
            <a:ext cx="2286000" cy="34747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914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68:1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LTV:CAC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Mo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4A261"/>
                </a:solidFill>
                <a:latin typeface="Georgia"/>
              </a:defRPr>
            </a:pPr>
            <a:r>
              <a:t>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B5A2B"/>
                </a:solidFill>
                <a:latin typeface="Calibri"/>
              </a:defRPr>
            </a:pPr>
            <a:r>
              <a:t>Yr 2 Return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Growth Projections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822960"/>
          <a:ext cx="5029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760720" y="822960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1188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5 districts • 500 users</a:t>
            </a:r>
            <a:br/>
            <a:r>
              <a:t>Seed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103120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468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50 districts • 5K users</a:t>
            </a:r>
            <a:br/>
            <a:r>
              <a:t>Series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383279"/>
            <a:ext cx="3017520" cy="105156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428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4782A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74903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E1C00"/>
                </a:solidFill>
                <a:latin typeface="Calibri"/>
              </a:defRPr>
            </a:pPr>
            <a:r>
              <a:t>200 districts • 20K users</a:t>
            </a:r>
            <a:br/>
            <a:r>
              <a:t>Series B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1">
                <a:solidFill>
                  <a:srgbClr val="F5DEB3"/>
                </a:solidFill>
                <a:latin typeface="Georgia"/>
              </a:defRPr>
            </a:pPr>
            <a:r>
              <a:t>The Ask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77240"/>
            <a:ext cx="4206240" cy="256032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💰 Seeking ₹50 Lakh Seed Investment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Karnataka pilot deployment — ₹15L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Engineering team (2 devs × 6mo) — ₹18L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Govt relations &amp; compliance — ₹7L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Cloud infrastructure &amp; APIs — ₹5L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Marketing &amp; legal conferences — ₹5L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4A261"/>
                </a:solidFill>
                <a:latin typeface="Calibri"/>
              </a:defRPr>
            </a:pPr>
            <a:r>
              <a:t>₹50L for 10% equity  •  Break-even Month 10  •  5× return by Year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777240"/>
            <a:ext cx="4023360" cy="292608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D47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868680"/>
            <a:ext cx="3749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D4782A"/>
                </a:solidFill>
                <a:latin typeface="Calibri"/>
              </a:defRPr>
            </a:pPr>
            <a:r>
              <a:t>🚀 Future Roadmap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RAG with Indian Kanoon / SCC Online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Bhashini API — Hindi, Kannada, Tamil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Voice input via Whisper API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Appeal Risk Predictor module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Fine-tuned Indian Legal LLM</a:t>
            </a:r>
          </a:p>
          <a:p>
            <a:pPr>
              <a:spcAft>
                <a:spcPts val="300"/>
              </a:spcAft>
              <a:defRPr sz="1050">
                <a:solidFill>
                  <a:srgbClr val="3E1C00"/>
                </a:solidFill>
                <a:latin typeface="Calibri"/>
              </a:defRPr>
            </a:pPr>
            <a:r>
              <a:t>• Mobile App (Flutter)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1">
                <a:solidFill>
                  <a:srgbClr val="F4A261"/>
                </a:solidFill>
                <a:latin typeface="Georgia"/>
              </a:defRPr>
            </a:pPr>
            <a:r>
              <a:t>"4.7 crore cases are waiting. We can give every judge an AI co-pilot."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137160"/>
            <a:ext cx="365760" cy="365760"/>
          </a:xfrm>
          <a:prstGeom prst="ellipse">
            <a:avLst/>
          </a:prstGeom>
          <a:solidFill>
            <a:srgbClr val="D4782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" y="4526280"/>
            <a:ext cx="320040" cy="320040"/>
          </a:xfrm>
          <a:prstGeom prst="ellipse">
            <a:avLst/>
          </a:prstGeom>
          <a:solidFill>
            <a:srgbClr val="A0522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47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